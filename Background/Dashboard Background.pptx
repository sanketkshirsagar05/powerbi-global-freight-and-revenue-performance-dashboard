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4F7"/>
    <a:srgbClr val="E6E6E6"/>
    <a:srgbClr val="3A24AA"/>
    <a:srgbClr val="D9E2F3"/>
    <a:srgbClr val="C5EBF3"/>
    <a:srgbClr val="F1E3E8"/>
    <a:srgbClr val="E9E4F4"/>
    <a:srgbClr val="EDE7D7"/>
    <a:srgbClr val="C5E9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74177-9F79-45CE-8E60-05E195EBE57B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A7157-9F00-4EE6-B9CA-45C0EF3F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00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9412-095E-4BDF-2E46-2169843CD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BEABC-B573-CF90-0784-8C4E9C79A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956E-9A57-A96A-48F3-42B34757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9A8FF-0A68-D720-8FBC-72AFBEAA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54261-42CB-F615-4640-B5975B98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9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C164-695B-6D8F-80A7-F6CEB3E93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2280D-114F-7EC4-FA31-CC02F821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6EE2D-7BFA-E612-6ECB-D1DCA01B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547B7-DD9C-88AC-43E7-BB928F26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311C2-B043-556F-7644-3251013B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73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AEA1-DAED-A4BC-F9A1-1D58A843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04776-A619-887F-C3F3-655C2746B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F63E0-A3F9-73ED-2ADA-CF1D40FA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A1DD0-0476-8E04-6395-72265A68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FC319-8CBF-FC89-DEF3-9D75EC55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9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0284-735B-9414-5240-7AD6149B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772B-28E5-1D4D-BE9B-79B834069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7CC15-A41F-72FA-8F02-90C3BB61F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5742A-265A-5082-F121-99F848D7E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A98AC-3382-A111-FF62-8D57DE8E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34350-DAB9-AE96-8F4F-9657C6A5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42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7914-6DC7-DC74-708D-DE20DED89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F3DD1-CC9D-E320-30E6-D7E3DFEFF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FC8D8-5FE0-A5AD-C269-E05532FD2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39CFD-3307-3517-99E8-A30C06497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3A29E-1B37-02EA-EE7C-43F50604C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C04CB-59D0-A41A-B0E9-D74B53DC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6F26B-3C99-FE9A-EB40-FCF29ED6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D1022-D226-46BE-A07B-0876BEA3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29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F253-9791-8C59-F09C-4DAF8084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6135B-8A4D-1FB5-4310-51D64C9E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67806-D5E6-148A-B355-C90F5704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F6267-4C2F-8E5D-5561-1E2AAD6A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1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56771-8E69-85C8-898B-44D1835E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B11D9-981D-7C63-89CF-EAF12441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6657B-52B9-B3FA-FA7D-92A8F8B6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1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3806-4AA2-F2EF-2EEE-9366E4BE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3D62-7392-339A-5EFF-4385CE498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06A7B-7567-5E33-5244-339B55305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61310-E71A-A1B0-6130-E5951474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4EAF2-23B4-5A52-A827-DCEC2A2A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10D3D-BE1F-BBD4-8047-B931EDAC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5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FDD5-6807-2E27-135B-EA3C751AD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09DDD-1076-26F0-8E76-03CFDFE58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D4C2-B812-1982-5618-215F99D37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0A4DC-42B1-A8C3-2C31-CA779721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7013B-19C6-1D9A-7612-4601E48B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6C1D1-140E-1FEC-7BA1-74D25566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34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7E45-AC31-FC25-8526-0E2C941F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62E905-CD84-F64D-98DC-02090A5EC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BD4F3-6AF2-6E80-52E0-97E07ECCE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637CA-E273-9E7A-5B65-AAF104BD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177F1-87E9-3A4E-B6D8-7F485A65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07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85CCB-425D-D7AA-D993-19EE71AF0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5F167-B62B-BDAC-A33A-8F9FB20B0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448C8-C57A-06F2-A684-EC3A4CF2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2A82B-60B8-0AE5-A71C-D75C13EB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9EFE-E01C-6B85-E935-E81B8331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92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E3040-23D8-AE38-06FC-4450F284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19F90-E298-4455-095B-126F8D3BC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9CF5-AB44-80CA-7B35-62F6943B9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ED1A2-5468-4756-B6EB-F4EC60AB2F8C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313C1-9335-A595-A420-7C2AAAC33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2A26-AD89-3E85-C02C-428AE1EFA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C8BE9-1F83-4430-8AFA-39BFF3CAE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05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5C510C5-D2CA-F1EA-AE8B-3A2EBE47C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99" y="0"/>
            <a:ext cx="10227002" cy="6858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F683ED-F3CF-2E8C-9F90-25D4A524CA7B}"/>
              </a:ext>
            </a:extLst>
          </p:cNvPr>
          <p:cNvSpPr/>
          <p:nvPr/>
        </p:nvSpPr>
        <p:spPr>
          <a:xfrm>
            <a:off x="1112131" y="59341"/>
            <a:ext cx="9967736" cy="6739317"/>
          </a:xfrm>
          <a:prstGeom prst="roundRect">
            <a:avLst>
              <a:gd name="adj" fmla="val 2888"/>
            </a:avLst>
          </a:prstGeom>
          <a:solidFill>
            <a:schemeClr val="bg1">
              <a:lumMod val="95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715A68-A841-C783-6AE0-DE97623546D3}"/>
              </a:ext>
            </a:extLst>
          </p:cNvPr>
          <p:cNvSpPr/>
          <p:nvPr/>
        </p:nvSpPr>
        <p:spPr>
          <a:xfrm>
            <a:off x="1282640" y="148321"/>
            <a:ext cx="9626717" cy="568115"/>
          </a:xfrm>
          <a:prstGeom prst="roundRect">
            <a:avLst>
              <a:gd name="adj" fmla="val 22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0A8AE1-48E2-A409-3A64-83C5A2CC7B26}"/>
              </a:ext>
            </a:extLst>
          </p:cNvPr>
          <p:cNvSpPr/>
          <p:nvPr/>
        </p:nvSpPr>
        <p:spPr>
          <a:xfrm>
            <a:off x="1282640" y="798038"/>
            <a:ext cx="4309622" cy="1843397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464991-872C-B5F8-16F4-637A46F15BE8}"/>
              </a:ext>
            </a:extLst>
          </p:cNvPr>
          <p:cNvSpPr/>
          <p:nvPr/>
        </p:nvSpPr>
        <p:spPr>
          <a:xfrm>
            <a:off x="5676031" y="790595"/>
            <a:ext cx="5233326" cy="1850839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7DB8AD-C5DE-0746-1EBB-6B2400857CC3}"/>
              </a:ext>
            </a:extLst>
          </p:cNvPr>
          <p:cNvSpPr/>
          <p:nvPr/>
        </p:nvSpPr>
        <p:spPr>
          <a:xfrm>
            <a:off x="1282640" y="2715596"/>
            <a:ext cx="6079693" cy="1787635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567DE7-1929-66E7-D2D0-AA28B94112A1}"/>
              </a:ext>
            </a:extLst>
          </p:cNvPr>
          <p:cNvSpPr/>
          <p:nvPr/>
        </p:nvSpPr>
        <p:spPr>
          <a:xfrm>
            <a:off x="7425146" y="2715596"/>
            <a:ext cx="3504648" cy="2450293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A23AED9-D147-BF84-FD3A-C14C6F36A86F}"/>
              </a:ext>
            </a:extLst>
          </p:cNvPr>
          <p:cNvSpPr/>
          <p:nvPr/>
        </p:nvSpPr>
        <p:spPr>
          <a:xfrm>
            <a:off x="1282641" y="4562573"/>
            <a:ext cx="6079692" cy="2161924"/>
          </a:xfrm>
          <a:prstGeom prst="roundRect">
            <a:avLst>
              <a:gd name="adj" fmla="val 699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00636-D19C-120F-6F79-A981E66FF809}"/>
              </a:ext>
            </a:extLst>
          </p:cNvPr>
          <p:cNvSpPr txBox="1"/>
          <p:nvPr/>
        </p:nvSpPr>
        <p:spPr>
          <a:xfrm>
            <a:off x="1310920" y="232323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>
                <a:ea typeface="Cambria" panose="02040503050406030204" pitchFamily="18" charset="0"/>
              </a:rPr>
              <a:t>Shipment Overview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C7B14-3860-F42B-4217-EFCA09E9AA92}"/>
              </a:ext>
            </a:extLst>
          </p:cNvPr>
          <p:cNvSpPr txBox="1"/>
          <p:nvPr/>
        </p:nvSpPr>
        <p:spPr>
          <a:xfrm>
            <a:off x="1339200" y="821657"/>
            <a:ext cx="1290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Total Shipment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79A243-752A-C350-46FE-59883500F66C}"/>
              </a:ext>
            </a:extLst>
          </p:cNvPr>
          <p:cNvCxnSpPr>
            <a:cxnSpLocks/>
            <a:stCxn id="14" idx="0"/>
            <a:endCxn id="14" idx="2"/>
          </p:cNvCxnSpPr>
          <p:nvPr/>
        </p:nvCxnSpPr>
        <p:spPr>
          <a:xfrm>
            <a:off x="3437451" y="798038"/>
            <a:ext cx="0" cy="184339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F14DB7-E736-B1CF-54C8-023328D4E7B3}"/>
              </a:ext>
            </a:extLst>
          </p:cNvPr>
          <p:cNvCxnSpPr>
            <a:cxnSpLocks/>
            <a:stCxn id="14" idx="1"/>
            <a:endCxn id="14" idx="3"/>
          </p:cNvCxnSpPr>
          <p:nvPr/>
        </p:nvCxnSpPr>
        <p:spPr>
          <a:xfrm>
            <a:off x="1282640" y="1719737"/>
            <a:ext cx="4309622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DB70C2F-DEA3-E146-65A2-3DFE441E568C}"/>
              </a:ext>
            </a:extLst>
          </p:cNvPr>
          <p:cNvSpPr txBox="1"/>
          <p:nvPr/>
        </p:nvSpPr>
        <p:spPr>
          <a:xfrm>
            <a:off x="3494010" y="843389"/>
            <a:ext cx="1474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On Going Air Freight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74F8CD-0729-62C4-98DD-32F81AB3A1A4}"/>
              </a:ext>
            </a:extLst>
          </p:cNvPr>
          <p:cNvSpPr txBox="1"/>
          <p:nvPr/>
        </p:nvSpPr>
        <p:spPr>
          <a:xfrm>
            <a:off x="1970796" y="1421006"/>
            <a:ext cx="1290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From Last Month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07B457-70F4-7C60-9DAB-6F02677497D4}"/>
              </a:ext>
            </a:extLst>
          </p:cNvPr>
          <p:cNvSpPr txBox="1"/>
          <p:nvPr/>
        </p:nvSpPr>
        <p:spPr>
          <a:xfrm>
            <a:off x="1990255" y="2345282"/>
            <a:ext cx="1290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From Last Month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93892C-71FF-ADFA-A234-908696901FB4}"/>
              </a:ext>
            </a:extLst>
          </p:cNvPr>
          <p:cNvSpPr txBox="1"/>
          <p:nvPr/>
        </p:nvSpPr>
        <p:spPr>
          <a:xfrm>
            <a:off x="4145066" y="2355145"/>
            <a:ext cx="1290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From Last Month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7860F4-CFBC-519C-6360-F9418F16B2DB}"/>
              </a:ext>
            </a:extLst>
          </p:cNvPr>
          <p:cNvSpPr txBox="1"/>
          <p:nvPr/>
        </p:nvSpPr>
        <p:spPr>
          <a:xfrm>
            <a:off x="4125607" y="1422382"/>
            <a:ext cx="1290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From Last Month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593C24-F225-E88B-8A03-13D55EE2FEA6}"/>
              </a:ext>
            </a:extLst>
          </p:cNvPr>
          <p:cNvSpPr txBox="1"/>
          <p:nvPr/>
        </p:nvSpPr>
        <p:spPr>
          <a:xfrm>
            <a:off x="1310919" y="1740094"/>
            <a:ext cx="1956011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On Going Ocean Freight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6EBED3-CB2F-C781-9C6F-8E0FA22C2021}"/>
              </a:ext>
            </a:extLst>
          </p:cNvPr>
          <p:cNvSpPr txBox="1"/>
          <p:nvPr/>
        </p:nvSpPr>
        <p:spPr>
          <a:xfrm>
            <a:off x="3521220" y="1725651"/>
            <a:ext cx="1588105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On Going Road Freight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B13DAE0-08F8-A8A0-A4DF-BA6C7EA31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952" y="914138"/>
            <a:ext cx="390767" cy="39076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281D427-71DD-14B4-9448-2B9466FAA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324" y="942708"/>
            <a:ext cx="390767" cy="3907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B441B2E-6895-CEC1-274D-D534058E7E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868" y="1881049"/>
            <a:ext cx="390767" cy="39076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4EEA668-2B8C-E119-AAFE-5777FD9CB4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325" y="1875341"/>
            <a:ext cx="390767" cy="39076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AA50E48-7100-6928-D373-A95C4CC72E7E}"/>
              </a:ext>
            </a:extLst>
          </p:cNvPr>
          <p:cNvSpPr txBox="1"/>
          <p:nvPr/>
        </p:nvSpPr>
        <p:spPr>
          <a:xfrm>
            <a:off x="5732589" y="826036"/>
            <a:ext cx="1474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Recurring Revenue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68511-8E8B-F339-9E90-791D70037BBB}"/>
              </a:ext>
            </a:extLst>
          </p:cNvPr>
          <p:cNvSpPr txBox="1"/>
          <p:nvPr/>
        </p:nvSpPr>
        <p:spPr>
          <a:xfrm>
            <a:off x="1349815" y="2771832"/>
            <a:ext cx="215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Shipment Over Time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A9BCA4-2224-6077-4BDA-A2876BBE68AB}"/>
              </a:ext>
            </a:extLst>
          </p:cNvPr>
          <p:cNvSpPr txBox="1"/>
          <p:nvPr/>
        </p:nvSpPr>
        <p:spPr>
          <a:xfrm>
            <a:off x="1310919" y="4640594"/>
            <a:ext cx="2610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Active Orders In Country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ABBDD9-E5CF-15E0-30BC-4D2D4907781A}"/>
              </a:ext>
            </a:extLst>
          </p:cNvPr>
          <p:cNvSpPr txBox="1"/>
          <p:nvPr/>
        </p:nvSpPr>
        <p:spPr>
          <a:xfrm>
            <a:off x="7491965" y="2811456"/>
            <a:ext cx="2154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ea typeface="Cambria" panose="02040503050406030204" pitchFamily="18" charset="0"/>
              </a:rPr>
              <a:t>Profit Statistics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C7EF26-9F1E-FD4B-A480-5EEB7D5FF484}"/>
              </a:ext>
            </a:extLst>
          </p:cNvPr>
          <p:cNvSpPr txBox="1"/>
          <p:nvPr/>
        </p:nvSpPr>
        <p:spPr>
          <a:xfrm>
            <a:off x="9110226" y="4844620"/>
            <a:ext cx="1495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More than last week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510E46-FA8E-CB60-DB85-86B50A285406}"/>
              </a:ext>
            </a:extLst>
          </p:cNvPr>
          <p:cNvSpPr txBox="1"/>
          <p:nvPr/>
        </p:nvSpPr>
        <p:spPr>
          <a:xfrm>
            <a:off x="8429878" y="3959933"/>
            <a:ext cx="1495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>
                <a:ea typeface="Cambria" panose="02040503050406030204" pitchFamily="18" charset="0"/>
              </a:rPr>
              <a:t>Profit form yesterday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1BD8D1-7135-1AC8-24BD-ECBA196BBE16}"/>
              </a:ext>
            </a:extLst>
          </p:cNvPr>
          <p:cNvSpPr txBox="1"/>
          <p:nvPr/>
        </p:nvSpPr>
        <p:spPr>
          <a:xfrm>
            <a:off x="8029464" y="4854303"/>
            <a:ext cx="800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Profit is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8A8AFE3-565F-45A1-E8F4-30D791971963}"/>
              </a:ext>
            </a:extLst>
          </p:cNvPr>
          <p:cNvSpPr/>
          <p:nvPr/>
        </p:nvSpPr>
        <p:spPr>
          <a:xfrm>
            <a:off x="1373732" y="4972361"/>
            <a:ext cx="5820284" cy="387055"/>
          </a:xfrm>
          <a:prstGeom prst="round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0E2DFEF-8168-6BEA-35EA-1049F0DA1F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575" y="5079235"/>
            <a:ext cx="189724" cy="18972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81726C0-788A-875B-8FF7-E0BF764189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549" y="5058392"/>
            <a:ext cx="214990" cy="21499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3BFD02F-079C-4B60-4288-B734A769B4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229" y="5033400"/>
            <a:ext cx="288114" cy="288114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5D5D3B3-C2F1-39C5-BCCD-16DE7D46F247}"/>
              </a:ext>
            </a:extLst>
          </p:cNvPr>
          <p:cNvSpPr txBox="1"/>
          <p:nvPr/>
        </p:nvSpPr>
        <p:spPr>
          <a:xfrm>
            <a:off x="2010529" y="5042253"/>
            <a:ext cx="1365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Overall Page Visits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EE1978-2FB2-8236-E0E6-5E2D285D3986}"/>
              </a:ext>
            </a:extLst>
          </p:cNvPr>
          <p:cNvSpPr txBox="1"/>
          <p:nvPr/>
        </p:nvSpPr>
        <p:spPr>
          <a:xfrm>
            <a:off x="4053756" y="5038451"/>
            <a:ext cx="1250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Overall Shipment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07B29-F206-6CC8-B87D-3648AA5E7C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146" y="5225230"/>
            <a:ext cx="3504648" cy="1484446"/>
          </a:xfrm>
          <a:prstGeom prst="roundRect">
            <a:avLst>
              <a:gd name="adj" fmla="val 7535"/>
            </a:avLst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9650847-7071-14A9-6CB5-FE536DB8A1F6}"/>
              </a:ext>
            </a:extLst>
          </p:cNvPr>
          <p:cNvSpPr txBox="1"/>
          <p:nvPr/>
        </p:nvSpPr>
        <p:spPr>
          <a:xfrm>
            <a:off x="6174571" y="5027388"/>
            <a:ext cx="1075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ea typeface="Cambria" panose="02040503050406030204" pitchFamily="18" charset="0"/>
              </a:rPr>
              <a:t>New Visitors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8D0935-0106-7617-C7CD-A9FE2065415F}"/>
              </a:ext>
            </a:extLst>
          </p:cNvPr>
          <p:cNvSpPr txBox="1"/>
          <p:nvPr/>
        </p:nvSpPr>
        <p:spPr>
          <a:xfrm>
            <a:off x="7826243" y="5321044"/>
            <a:ext cx="1765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>
                <a:solidFill>
                  <a:srgbClr val="FFFFFF"/>
                </a:solidFill>
                <a:ea typeface="Cambria" panose="02040503050406030204" pitchFamily="18" charset="0"/>
              </a:rPr>
              <a:t>Customer Growth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73D6181-5AC6-EC40-BF58-D648E0C66C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606" y="5321044"/>
            <a:ext cx="264637" cy="2646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967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</TotalTime>
  <Words>58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Kshirsagar</dc:creator>
  <cp:lastModifiedBy>Sanket Kshirsagar</cp:lastModifiedBy>
  <cp:revision>68</cp:revision>
  <dcterms:created xsi:type="dcterms:W3CDTF">2025-03-10T04:01:43Z</dcterms:created>
  <dcterms:modified xsi:type="dcterms:W3CDTF">2025-12-12T08:41:54Z</dcterms:modified>
</cp:coreProperties>
</file>